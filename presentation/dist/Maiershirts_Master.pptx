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1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Aufträge</c:v>
                </c:pt>
              </c:strCache>
            </c:strRef>
          </c:tx>
          <c:spPr>
            <a:solidFill>
              <a:srgbClr val="819E7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F0F0F"/>
                    </a:solidFill>
                    <a:latin typeface="Inter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T-Shirts</c:v>
                  </c:pt>
                  <c:pt idx="1">
                    <c:v>Hoodies</c:v>
                  </c:pt>
                  <c:pt idx="2">
                    <c:v>Polos</c:v>
                  </c:pt>
                  <c:pt idx="3">
                    <c:v>Workwear</c:v>
                  </c:pt>
                  <c:pt idx="4">
                    <c:v>Caps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420</c:v>
                </c:pt>
                <c:pt idx="1">
                  <c:v>260</c:v>
                </c:pt>
                <c:pt idx="2">
                  <c:v>180</c:v>
                </c:pt>
                <c:pt idx="3">
                  <c:v>150</c:v>
                </c:pt>
                <c:pt idx="4">
                  <c:v>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F0F0F"/>
                  </a:solidFill>
                  <a:latin typeface="Inter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D9D2C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F0F0F"/>
                </a:solidFill>
                <a:latin typeface="Inter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MS_TITEL. Alle vier Felder sind Platzhalter: Titel, Untertitel, Kunde/Projekt, Datum/Angebotsnummer.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Textkörper. Die Agenda ist normaler Text im Textkörper.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MS_ABSCHNITT: Nummer, Titel, Kurzbeschreibung.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MS_FREI_SAND: nur Titel, Fläche frei. Hier: Text links, vier weiße Karten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MS_BILD_VOLL: Foto über die volle Breite, darunter Bildunterschrift. Bild per Klick auf das Platzhalterbild ersetzen.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MS_KENNZAHLEN: drei Karten mit Zahl, Bedeutung und Quelle, dazu eine Hinweiszeile.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MS_PROZESS: vier nummerierte Schritte mit Überschrift und Kurztext.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MS_TEXTIL: drei Rohlinge mit Foto, Name, Details und Preis ab. Beispielwerte.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MS_PREISSTAFFEL: vier Stufen Menge gegen Stückpreis, darunter Hinweise.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MS_ANGEBOT: Tabelle als Zusammenfassung (nativ, in PowerPoint editierbar), Konditionen als Platzhalter. Das verbindliche Angebot kommt aus Lexware.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MS_REFERENZEN: 12 Logo-Felder. 10 Logo(s) aus assets/referenzen/unternehmen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MS_REFERENZEN_WAPPEN: 8 Logo-Felder. 7 Logo(s) aus assets/referenzen/vereine eingesetzt. Logo per Klick auf das Platzhalterbild einsetzen; bei Beschnitt: Bildformat → Zuschneiden → Anpassen.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MS_BILD: Foto links, Textkörper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MS_FREI mit nativem Säulendiagramm links und Kernaussage rechts.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MS_INHALT: Titel und Textkörper mit Aufzählung.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Layout MS_ABSCHLUSS: Handlungsaufforderung, Ansprechpartner mit Foto, nächster Schritt mit Termin, QR-Code. Kontaktdaten sind Platzhalter.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MS_TITEL-image-2.png"/><Relationship Id="rId3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image" Target="../media/MS_ABSCHNITT-image-2.png"/><Relationship Id="rId3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6-1.png"/><Relationship Id="rId2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image" Target="../media/MS_BILD_VOLL-image-2.png"/><Relationship Id="rId3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image" Target="../media/MS_KENNZAHLEN-image-2.png"/><Relationship Id="rId3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1-1.png"/><Relationship Id="rId2" Type="http://schemas.openxmlformats.org/officeDocument/2006/relationships/image" Target="../media/MS_PROZESS-image-2.png"/><Relationship Id="rId3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2-1.png"/><Relationship Id="rId2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3-1.png"/><Relationship Id="rId2" Type="http://schemas.openxmlformats.org/officeDocument/2006/relationships/image" Target="../media/MS_PREISSTAFFEL-image-2.png"/><Relationship Id="rId3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4-1.png"/><Relationship Id="rId2" Type="http://schemas.openxmlformats.org/officeDocument/2006/relationships/image" Target="../media/MS_ANGEBOT-image-2.png"/><Relationship Id="rId3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5-1.png"/><Relationship Id="rId2" Type="http://schemas.openxmlformats.org/officeDocument/2006/relationships/image" Target="../media/MS_REFERENZEN-image-2.png"/><Relationship Id="rId3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6-1.png"/><Relationship Id="rId2" Type="http://schemas.openxmlformats.org/officeDocument/2006/relationships/image" Target="../media/MS_REFERENZEN_WAPPEN-image-2.png"/><Relationship Id="rId3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7-1.png"/><Relationship Id="rId2" Type="http://schemas.openxmlformats.org/officeDocument/2006/relationships/image" Target="../media/MS_ABSCHLUSS-image-2.png"/><Relationship Id="rId3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IT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Titel der Präsentation</a:t>
            </a:r>
            <a:endParaRPr lang="en-US" sz="40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Untertitel</a:t>
            </a:r>
            <a:endParaRPr lang="en-US" sz="18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Kunde · Projekt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Datum · Angebotsnummer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NIT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Abschnittstitel</a:t>
            </a:r>
            <a:endParaRPr lang="en-US" sz="36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Kurzbeschreibung des Abschnitts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INHALT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5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1006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FREI_SAND">
    <p:bg>
      <p:bgPr>
        <a:solidFill>
          <a:srgbClr val="E8DF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402336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 eingeben</a:t>
            </a:r>
            <a:endParaRPr lang="en-US" sz="1600" dirty="0"/>
          </a:p>
        </p:txBody>
      </p:sp>
      <p:sp>
        <p:nvSpPr>
          <p:cNvPr id="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BILD_VOL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pic" hasCustomPrompt="1"/>
          </p:nvPr>
        </p:nvSpPr>
        <p:spPr>
          <a:xfrm>
            <a:off x="0" y="0"/>
            <a:ext cx="9144000" cy="38404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pic>
        <p:nvPicPr>
          <p:cNvPr id="3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4206240"/>
            <a:ext cx="868680" cy="457200"/>
          </a:xfrm>
          <a:prstGeom prst="rect">
            <a:avLst/>
          </a:prstGeom>
        </p:spPr>
      </p:pic>
      <p:sp>
        <p:nvSpPr>
          <p:cNvPr id="4" name="Text 0"/>
          <p:cNvSpPr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Bildunterschrift</a:t>
            </a:r>
            <a:endParaRPr lang="en-US" sz="2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Ergänzung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KENNZAHL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1.000</a:t>
            </a:r>
            <a:endParaRPr lang="en-US" sz="4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die Zahl bedeutet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Zeitraum / Quelle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</a:t>
            </a:r>
            <a:endParaRPr lang="en-US" sz="1200" dirty="0"/>
          </a:p>
        </p:txBody>
      </p:sp>
      <p:sp>
        <p:nvSpPr>
          <p:cNvPr id="14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1010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OZE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1</a:t>
            </a:r>
            <a:endParaRPr lang="en-US" sz="1600" dirty="0"/>
          </a:p>
        </p:txBody>
      </p:sp>
      <p:sp>
        <p:nvSpPr>
          <p:cNvPr id="6" name="Text 1"/>
          <p:cNvSpPr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7" name="Text 1"/>
          <p:cNvSpPr/>
          <p:nvPr/>
        </p:nvSpPr>
        <p:spPr>
          <a:xfrm>
            <a:off x="265176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2</a:t>
            </a:r>
            <a:endParaRPr lang="en-US" sz="1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0" name="Text 2"/>
          <p:cNvSpPr/>
          <p:nvPr/>
        </p:nvSpPr>
        <p:spPr>
          <a:xfrm>
            <a:off x="475488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1" name="Text 3"/>
          <p:cNvSpPr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3</a:t>
            </a:r>
            <a:endParaRPr lang="en-US" sz="1600" dirty="0"/>
          </a:p>
        </p:txBody>
      </p:sp>
      <p:sp>
        <p:nvSpPr>
          <p:cNvPr id="12" name="Text 3"/>
          <p:cNvSpPr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3" name="Text 3"/>
          <p:cNvSpPr/>
          <p:nvPr/>
        </p:nvSpPr>
        <p:spPr>
          <a:xfrm>
            <a:off x="6858000" y="16002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Schritt 4</a:t>
            </a:r>
            <a:endParaRPr lang="en-US" sz="1600" dirty="0"/>
          </a:p>
        </p:txBody>
      </p:sp>
      <p:sp>
        <p:nvSpPr>
          <p:cNvPr id="15" name="Text 4"/>
          <p:cNvSpPr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in diesem Schritt passiert</a:t>
            </a:r>
            <a:endParaRPr lang="en-US" sz="1200" dirty="0"/>
          </a:p>
        </p:txBody>
      </p:sp>
      <p:sp>
        <p:nvSpPr>
          <p:cNvPr id="16" name="Text 4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1011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TEXTI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45720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324612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6035040" y="1234440"/>
            <a:ext cx="26517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Foto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</a:t>
            </a:r>
            <a:endParaRPr lang="en-US" sz="16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Material · Grammatur · Farben · Größen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0,00 €</a:t>
            </a:r>
            <a:endParaRPr lang="en-US" sz="16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1012</a:t>
            </a:fld>
            <a:endParaRPr lang="en-US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PREISSTAFFEL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2" name="Text 0"/>
          <p:cNvSpPr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14" name="Text 0"/>
          <p:cNvSpPr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0,00 €</a:t>
            </a:r>
            <a:endParaRPr lang="en-US" sz="3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</p:txBody>
      </p:sp>
      <p:sp>
        <p:nvSpPr>
          <p:cNvPr id="16" name="Text 0"/>
          <p:cNvSpPr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Hinweise zur Staffel</a:t>
            </a:r>
            <a:endParaRPr lang="en-US" sz="1200" dirty="0"/>
          </a:p>
        </p:txBody>
      </p:sp>
      <p:sp>
        <p:nvSpPr>
          <p:cNvPr id="17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1013</a:t>
            </a:fld>
            <a:endParaRPr lang="en-US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NGEBO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6400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0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Gültig bis</a:t>
            </a:r>
            <a:endParaRPr lang="en-US" sz="1400" dirty="0"/>
          </a:p>
        </p:txBody>
      </p:sp>
      <p:sp>
        <p:nvSpPr>
          <p:cNvPr id="6" name="Text 1"/>
          <p:cNvSpPr/>
          <p:nvPr/>
        </p:nvSpPr>
        <p:spPr>
          <a:xfrm>
            <a:off x="33832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000" dirty="0"/>
          </a:p>
        </p:txBody>
      </p:sp>
      <p:sp>
        <p:nvSpPr>
          <p:cNvPr id="7" name="Text 2"/>
          <p:cNvSpPr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Lieferzeit</a:t>
            </a:r>
            <a:endParaRPr lang="en-US" sz="1400" dirty="0"/>
          </a:p>
        </p:txBody>
      </p:sp>
      <p:sp>
        <p:nvSpPr>
          <p:cNvPr id="8" name="Text 2"/>
          <p:cNvSpPr/>
          <p:nvPr/>
        </p:nvSpPr>
        <p:spPr>
          <a:xfrm>
            <a:off x="6126480" y="3767328"/>
            <a:ext cx="24688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000" dirty="0"/>
          </a:p>
        </p:txBody>
      </p:sp>
      <p:sp>
        <p:nvSpPr>
          <p:cNvPr id="9" name="Text 3"/>
          <p:cNvSpPr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Zahlung</a:t>
            </a:r>
            <a:endParaRPr lang="en-US" sz="1400" dirty="0"/>
          </a:p>
        </p:txBody>
      </p:sp>
      <p:sp>
        <p:nvSpPr>
          <p:cNvPr id="10" name="Text 3"/>
          <p:cNvSpPr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Preise netto zzgl. MwSt.</a:t>
            </a:r>
            <a:endParaRPr lang="en-US" sz="1000" dirty="0"/>
          </a:p>
        </p:txBody>
      </p:sp>
      <p:sp>
        <p:nvSpPr>
          <p:cNvPr id="11" name="Text 3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1014</a:t>
            </a:fld>
            <a:endParaRPr lang="en-US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267004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477316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pic" hasCustomPrompt="1"/>
          </p:nvPr>
        </p:nvSpPr>
        <p:spPr>
          <a:xfrm>
            <a:off x="6876288" y="134416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56692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pic" hasCustomPrompt="1"/>
          </p:nvPr>
        </p:nvSpPr>
        <p:spPr>
          <a:xfrm>
            <a:off x="267004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477316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pic" hasCustomPrompt="1"/>
          </p:nvPr>
        </p:nvSpPr>
        <p:spPr>
          <a:xfrm>
            <a:off x="6876288" y="244144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pic" hasCustomPrompt="1"/>
          </p:nvPr>
        </p:nvSpPr>
        <p:spPr>
          <a:xfrm>
            <a:off x="267004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477316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pic" hasCustomPrompt="1"/>
          </p:nvPr>
        </p:nvSpPr>
        <p:spPr>
          <a:xfrm>
            <a:off x="6876288" y="3538728"/>
            <a:ext cx="1700784" cy="740664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6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1015</a:t>
            </a:fld>
            <a:endParaRPr lang="en-US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REFERENZEN_WAPPEN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dark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7818120" y="365760"/>
            <a:ext cx="868680" cy="4572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4" name="Text 0"/>
          <p:cNvSpPr/>
          <p:nvPr>
            <p:ph idx="102" type="pic" hasCustomPrompt="1"/>
          </p:nvPr>
        </p:nvSpPr>
        <p:spPr>
          <a:xfrm>
            <a:off x="56692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6" name="Text 0"/>
          <p:cNvSpPr/>
          <p:nvPr>
            <p:ph idx="104" type="pic" hasCustomPrompt="1"/>
          </p:nvPr>
        </p:nvSpPr>
        <p:spPr>
          <a:xfrm>
            <a:off x="267004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8" name="Text 0"/>
          <p:cNvSpPr/>
          <p:nvPr>
            <p:ph idx="106" type="pic" hasCustomPrompt="1"/>
          </p:nvPr>
        </p:nvSpPr>
        <p:spPr>
          <a:xfrm>
            <a:off x="477316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9" name="Text 0"/>
          <p:cNvSpPr/>
          <p:nvPr>
            <p:ph idx="107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0" name="Text 0"/>
          <p:cNvSpPr/>
          <p:nvPr>
            <p:ph idx="108" type="pic" hasCustomPrompt="1"/>
          </p:nvPr>
        </p:nvSpPr>
        <p:spPr>
          <a:xfrm>
            <a:off x="6876288" y="13441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1" name="Text 0"/>
          <p:cNvSpPr/>
          <p:nvPr>
            <p:ph idx="109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2" name="Text 0"/>
          <p:cNvSpPr/>
          <p:nvPr>
            <p:ph idx="110" type="pic" hasCustomPrompt="1"/>
          </p:nvPr>
        </p:nvSpPr>
        <p:spPr>
          <a:xfrm>
            <a:off x="56692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3" name="Text 0"/>
          <p:cNvSpPr/>
          <p:nvPr>
            <p:ph idx="111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4" name="Text 0"/>
          <p:cNvSpPr/>
          <p:nvPr>
            <p:ph idx="112" type="pic" hasCustomPrompt="1"/>
          </p:nvPr>
        </p:nvSpPr>
        <p:spPr>
          <a:xfrm>
            <a:off x="267004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5" name="Text 0"/>
          <p:cNvSpPr/>
          <p:nvPr>
            <p:ph idx="113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6" name="Text 0"/>
          <p:cNvSpPr/>
          <p:nvPr>
            <p:ph idx="114" type="pic" hasCustomPrompt="1"/>
          </p:nvPr>
        </p:nvSpPr>
        <p:spPr>
          <a:xfrm>
            <a:off x="477316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7" name="Text 0"/>
          <p:cNvSpPr/>
          <p:nvPr>
            <p:ph idx="115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18" name="Text 0"/>
          <p:cNvSpPr/>
          <p:nvPr>
            <p:ph idx="116" type="pic" hasCustomPrompt="1"/>
          </p:nvPr>
        </p:nvSpPr>
        <p:spPr>
          <a:xfrm>
            <a:off x="6876288" y="2944368"/>
            <a:ext cx="1700784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Logo einfügen</a:t>
            </a:r>
            <a:endParaRPr lang="en-US" sz="1200" dirty="0"/>
          </a:p>
        </p:txBody>
      </p:sp>
      <p:sp>
        <p:nvSpPr>
          <p:cNvPr id="19" name="Text 0"/>
          <p:cNvSpPr/>
          <p:nvPr>
            <p:ph idx="117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Vereinsname</a:t>
            </a:r>
            <a:endParaRPr lang="en-US" sz="1100" dirty="0"/>
          </a:p>
        </p:txBody>
      </p:sp>
      <p:sp>
        <p:nvSpPr>
          <p:cNvPr id="20" name="Text 0"/>
          <p:cNvSpPr/>
          <p:nvPr/>
        </p:nvSpPr>
        <p:spPr>
          <a:xfrm>
            <a:off x="45720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1016</a:t>
            </a:fld>
            <a:endParaRPr lang="en-US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S_ABSCHLUS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stefanmaier/Documents/GitHub/lexware-angebot-tool/presentation/assets/logo-light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48640" y="457200"/>
            <a:ext cx="1463040" cy="804672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starten</a:t>
            </a:r>
            <a:endParaRPr lang="en-US" sz="32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wir als Nächstes gemeinsam tun</a:t>
            </a:r>
            <a:endParaRPr lang="en-US" sz="1600" dirty="0"/>
          </a:p>
        </p:txBody>
      </p:sp>
      <p:sp>
        <p:nvSpPr>
          <p:cNvPr id="5" name="Text 0"/>
          <p:cNvSpPr/>
          <p:nvPr>
            <p:ph idx="103" type="pic" hasCustomPrompt="1"/>
          </p:nvPr>
        </p:nvSpPr>
        <p:spPr>
          <a:xfrm>
            <a:off x="548640" y="3154680"/>
            <a:ext cx="96012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Porträt einfügen</a:t>
            </a:r>
            <a:endParaRPr lang="en-US" sz="1200" dirty="0"/>
          </a:p>
        </p:txBody>
      </p:sp>
      <p:sp>
        <p:nvSpPr>
          <p:cNvPr id="6" name="Text 0"/>
          <p:cNvSpPr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Vorname Nachname</a:t>
            </a:r>
            <a:endParaRPr lang="en-US" sz="1600" dirty="0"/>
          </a:p>
        </p:txBody>
      </p:sp>
      <p:sp>
        <p:nvSpPr>
          <p:cNvPr id="7" name="Text 0"/>
          <p:cNvSpPr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Ansprechpartner</a:t>
            </a:r>
            <a:endParaRPr lang="en-US" sz="1200" dirty="0"/>
          </a:p>
        </p:txBody>
      </p:sp>
      <p:sp>
        <p:nvSpPr>
          <p:cNvPr id="8" name="Text 0"/>
          <p:cNvSpPr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Telefon · E-Mail</a:t>
            </a:r>
            <a:endParaRPr lang="en-US" sz="1200" dirty="0"/>
          </a:p>
        </p:txBody>
      </p:sp>
      <p:sp>
        <p:nvSpPr>
          <p:cNvPr id="9" name="Text 0"/>
          <p:cNvSpPr/>
          <p:nvPr/>
        </p:nvSpPr>
        <p:spPr>
          <a:xfrm>
            <a:off x="5897880" y="155448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NÄCHSTER SCHRITT</a:t>
            </a:r>
            <a:endParaRPr lang="en-US" sz="1000" dirty="0"/>
          </a:p>
        </p:txBody>
      </p:sp>
      <p:sp>
        <p:nvSpPr>
          <p:cNvPr id="10" name="Text 1"/>
          <p:cNvSpPr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jetzt zu tun ist, bis wann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9" type="pic" hasCustomPrompt="1"/>
          </p:nvPr>
        </p:nvSpPr>
        <p:spPr>
          <a:xfrm>
            <a:off x="5897880" y="3200400"/>
            <a:ext cx="9144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ctr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QR-Code einfügen</a:t>
            </a:r>
            <a:endParaRPr lang="en-US" sz="1200" dirty="0"/>
          </a:p>
        </p:txBody>
      </p:sp>
      <p:sp>
        <p:nvSpPr>
          <p:cNvPr id="12" name="Text 1"/>
          <p:cNvSpPr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defRPr>
            </a:lvl1pPr>
          </a:lstStyle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</a:t>
            </a:r>
            <a:endParaRPr lang="en-US" sz="1200" dirty="0"/>
          </a:p>
        </p:txBody>
      </p:sp>
      <p:sp>
        <p:nvSpPr>
          <p:cNvPr id="13" name="Text 1"/>
          <p:cNvSpPr/>
          <p:nvPr/>
        </p:nvSpPr>
        <p:spPr>
          <a:xfrm>
            <a:off x="548640" y="47091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</a:t>
            </a:r>
            <a:endParaRPr lang="en-US" sz="1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1.png"/><Relationship Id="rId3" Type="http://schemas.openxmlformats.org/officeDocument/2006/relationships/image" Target="../media/image-8-1.png"/><Relationship Id="rId4" Type="http://schemas.openxmlformats.org/officeDocument/2006/relationships/slideLayout" Target="../slideLayouts/slideLayout12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image" Target="../media/image-11-10.png"/><Relationship Id="rId11" Type="http://schemas.openxmlformats.org/officeDocument/2006/relationships/image" Target="../media/image-11-11.png"/><Relationship Id="rId12" Type="http://schemas.openxmlformats.org/officeDocument/2006/relationships/image" Target="../media/image-11-11.png"/><Relationship Id="rId13" Type="http://schemas.openxmlformats.org/officeDocument/2006/relationships/slideLayout" Target="../slideLayouts/slideLayout15.xml"/><Relationship Id="rId1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image" Target="../media/image-12-7.png"/><Relationship Id="rId8" Type="http://schemas.openxmlformats.org/officeDocument/2006/relationships/image" Target="../media/image-12-8.png"/><Relationship Id="rId9" Type="http://schemas.openxmlformats.org/officeDocument/2006/relationships/slideLayout" Target="../slideLayouts/slideLayout16.xml"/><Relationship Id="rId10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8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slideLayout" Target="../slideLayouts/slideLayout17.xml"/><Relationship Id="rId4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691640"/>
            <a:ext cx="65836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Angebotspräsentation</a:t>
            </a:r>
            <a:endParaRPr lang="en-US" sz="40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926080"/>
            <a:ext cx="6583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Individuell veredelte Textilien für Teams, Vereine und Unternehmen</a:t>
            </a:r>
            <a:endParaRPr lang="en-US" sz="18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794760"/>
            <a:ext cx="6583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für: SV Musterstadt e. V. · Trikotsatz Saison 2027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548640" y="4206240"/>
            <a:ext cx="6583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September 2026 · Angebot Nr. 2026-0815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Agenda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Wer wir sind und wofür wir stehen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Leistungen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Verfahren, Textilien und Veredelung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Textilien, Staffelpreise und Positionen</a:t>
            </a:r>
            <a:endParaRPr lang="en-US" sz="1600" dirty="0"/>
          </a:p>
          <a:p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 </a:t>
            </a:r>
            <a:pPr algn="l" indent="0" marL="0">
              <a:spcAft>
                <a:spcPts val="200"/>
              </a:spcAft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Nächste Schritte</a:t>
            </a:r>
            <a:endParaRPr lang="en-US" sz="1600" dirty="0"/>
          </a:p>
          <a:p>
            <a:pPr algn="l" indent="0" marL="0">
              <a:spcAft>
                <a:spcPts val="1400"/>
              </a:spcAft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  Freigabe, Produktion und Lieferung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body" hasCustomPrompt="1"/>
          </p:nvPr>
        </p:nvSpPr>
        <p:spPr>
          <a:xfrm>
            <a:off x="548640" y="1371600"/>
            <a:ext cx="2743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819E72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5400" dirty="0"/>
          </a:p>
        </p:txBody>
      </p:sp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2286000"/>
            <a:ext cx="6583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Über uns</a:t>
            </a:r>
            <a:endParaRPr lang="en-US" sz="36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3154680"/>
            <a:ext cx="6583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Textilveredelung aus einer Hand: persönlich, schnell und in gleichbleibender Qualität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 uns ausmacht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234440"/>
            <a:ext cx="37490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 veredelt Textilien für Unternehmen, Vereine und Events. Vom einzelnen Shirt bis zur kompletten Teamausstattung begleiten wir jedes Projekt persönlich, von der Motividee bis zum fertigen Paket.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43200"/>
            <a:ext cx="37490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Beratung zu Textil, Verfahren und Motiv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und Stickerei im eigenen Haus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Kleine Auflagen ab 1 Stück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Verlässliche Liefertermine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80060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0060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Siebdruck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480060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Kräftige Farben, ideal für größere Auflagen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675120" y="123444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03720" y="150876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903720" y="164592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903720" y="19842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Hochwertig und langlebig, erste Wahl für Workwear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80060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Express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80060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Kurze Produktionszeiten auf Anfrage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675120" y="2880360"/>
            <a:ext cx="1965960" cy="150876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903720" y="3154680"/>
            <a:ext cx="365760" cy="0"/>
          </a:xfrm>
          <a:prstGeom prst="line">
            <a:avLst/>
          </a:prstGeom>
          <a:noFill/>
          <a:ln w="38100">
            <a:solidFill>
              <a:srgbClr val="819E7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903720" y="329184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Qualität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903720" y="363016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Geprüfte Textilien namhafter Hersteller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var/folders/hm/sgq6d80d0vq133k7n8dc9bnw0000gn/T/maiershirts-R3q5bi/ph-foto-2400x1008.png">    </p:cNvPr>
          <p:cNvPicPr>
            <a:picLocks noChangeAspect="1"/>
          </p:cNvPicPr>
          <p:nvPr>
            <p:ph idx="100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0" y="0"/>
            <a:ext cx="9144000" cy="3840480"/>
          </a:xfrm>
          <a:prstGeom prst="rect">
            <a:avLst/>
          </a:prstGeom>
        </p:spPr>
      </p:pic>
      <p:sp>
        <p:nvSpPr>
          <p:cNvPr id="3" name="Text 0"/>
          <p:cNvSpPr txBox="1"/>
          <p:nvPr>
            <p:ph idx="102" type="title" hasCustomPrompt="1"/>
          </p:nvPr>
        </p:nvSpPr>
        <p:spPr>
          <a:xfrm>
            <a:off x="548640" y="3977640"/>
            <a:ext cx="6949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Motiv auf dem Textil</a:t>
            </a:r>
            <a:endParaRPr lang="en-US" sz="2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48640" y="448056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auf Polo-Shirt, Beispiel aus der Produktion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Zahlen, die für uns sprechen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8580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1.200+</a:t>
            </a:r>
            <a:endParaRPr lang="en-US" sz="4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8580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Projekte pro Jahr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8580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347472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48 h</a:t>
            </a:r>
            <a:endParaRPr lang="en-US" sz="4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347472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zum Angebot</a:t>
            </a:r>
            <a:endParaRPr lang="en-US" sz="16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47472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6263640" y="1554480"/>
            <a:ext cx="2194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98 %</a:t>
            </a:r>
            <a:endParaRPr lang="en-US" sz="4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263640" y="246888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Wiederkehrende Kunden</a:t>
            </a:r>
            <a:endParaRPr lang="en-US" sz="16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6263640" y="30632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457200" y="38862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Alle Werte sind Platzhalter und werden vor Verwendung durch echte Kennzahlen ersetzt.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 läuft ein Auftrag ab</a:t>
            </a:r>
            <a:endParaRPr lang="en-US" sz="2800" dirty="0"/>
          </a:p>
        </p:txBody>
      </p:sp>
      <p:sp>
        <p:nvSpPr>
          <p:cNvPr id="3" name="Text 1"/>
          <p:cNvSpPr txBox="1"/>
          <p:nvPr>
            <p:ph idx="103" type="body" hasCustomPrompt="1"/>
          </p:nvPr>
        </p:nvSpPr>
        <p:spPr>
          <a:xfrm>
            <a:off x="4572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</a:t>
            </a:r>
            <a:endParaRPr lang="en-US" sz="1600" dirty="0"/>
          </a:p>
        </p:txBody>
      </p:sp>
      <p:sp>
        <p:nvSpPr>
          <p:cNvPr id="4" name="Text 1"/>
          <p:cNvSpPr txBox="1"/>
          <p:nvPr>
            <p:ph idx="104" type="body" hasCustomPrompt="1"/>
          </p:nvPr>
        </p:nvSpPr>
        <p:spPr>
          <a:xfrm>
            <a:off x="4572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Textil, Menge und Motiv per Mail oder Telefon</a:t>
            </a:r>
            <a:endParaRPr lang="en-US" sz="1200" dirty="0"/>
          </a:p>
        </p:txBody>
      </p:sp>
      <p:sp>
        <p:nvSpPr>
          <p:cNvPr id="5" name="Text 2"/>
          <p:cNvSpPr txBox="1"/>
          <p:nvPr>
            <p:ph idx="106" type="body" hasCustomPrompt="1"/>
          </p:nvPr>
        </p:nvSpPr>
        <p:spPr>
          <a:xfrm>
            <a:off x="214884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</a:t>
            </a:r>
            <a:endParaRPr lang="en-US" sz="1600" dirty="0"/>
          </a:p>
        </p:txBody>
      </p:sp>
      <p:sp>
        <p:nvSpPr>
          <p:cNvPr id="6" name="Text 2"/>
          <p:cNvSpPr txBox="1"/>
          <p:nvPr>
            <p:ph idx="107" type="body" hasCustomPrompt="1"/>
          </p:nvPr>
        </p:nvSpPr>
        <p:spPr>
          <a:xfrm>
            <a:off x="214884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Angebot aus Lexware innerhalb von 48 Stunden</a:t>
            </a:r>
            <a:endParaRPr lang="en-US" sz="1200" dirty="0"/>
          </a:p>
        </p:txBody>
      </p:sp>
      <p:sp>
        <p:nvSpPr>
          <p:cNvPr id="7" name="Text 3"/>
          <p:cNvSpPr txBox="1"/>
          <p:nvPr>
            <p:ph idx="109" type="body" hasCustomPrompt="1"/>
          </p:nvPr>
        </p:nvSpPr>
        <p:spPr>
          <a:xfrm>
            <a:off x="425196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Produktion</a:t>
            </a:r>
            <a:endParaRPr lang="en-US" sz="1600" dirty="0"/>
          </a:p>
        </p:txBody>
      </p:sp>
      <p:sp>
        <p:nvSpPr>
          <p:cNvPr id="8" name="Text 3"/>
          <p:cNvSpPr txBox="1"/>
          <p:nvPr>
            <p:ph idx="110" type="body" hasCustomPrompt="1"/>
          </p:nvPr>
        </p:nvSpPr>
        <p:spPr>
          <a:xfrm>
            <a:off x="425196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Druck oder Stickerei nach Ihrer Freigabe</a:t>
            </a:r>
            <a:endParaRPr lang="en-US" sz="1200" dirty="0"/>
          </a:p>
        </p:txBody>
      </p:sp>
      <p:sp>
        <p:nvSpPr>
          <p:cNvPr id="9" name="Text 4"/>
          <p:cNvSpPr txBox="1"/>
          <p:nvPr>
            <p:ph idx="112" type="body" hasCustomPrompt="1"/>
          </p:nvPr>
        </p:nvSpPr>
        <p:spPr>
          <a:xfrm>
            <a:off x="6355080" y="274320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Lieferung</a:t>
            </a:r>
            <a:endParaRPr lang="en-US" sz="1600" dirty="0"/>
          </a:p>
        </p:txBody>
      </p:sp>
      <p:sp>
        <p:nvSpPr>
          <p:cNvPr id="10" name="Text 4"/>
          <p:cNvSpPr txBox="1"/>
          <p:nvPr>
            <p:ph idx="113" type="body" hasCustomPrompt="1"/>
          </p:nvPr>
        </p:nvSpPr>
        <p:spPr>
          <a:xfrm>
            <a:off x="6355080" y="310896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Versand oder Abholung zum Wunschtermin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Textilien für Ihr Projekt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R3q5bi/ph-foto-696x456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2651760" cy="173736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5720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 Bio-Baumwolle</a:t>
            </a:r>
            <a:endParaRPr lang="en-US" sz="16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45720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B&amp;C Inspire T · 140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Farben · XS bis 3XL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45720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9,90 €</a:t>
            </a:r>
            <a:endParaRPr lang="en-US" sz="1600" dirty="0"/>
          </a:p>
        </p:txBody>
      </p:sp>
      <p:pic>
        <p:nvPicPr>
          <p:cNvPr id="7" name="Image 1" descr="/var/folders/hm/sgq6d80d0vq133k7n8dc9bnw0000gn/T/maiershirts-R3q5bi/ph-foto-696x456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3246120" y="1234440"/>
            <a:ext cx="2651760" cy="1737360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324612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Polo-Shirt Piqué</a:t>
            </a:r>
            <a:endParaRPr lang="en-US" sz="16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324612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Kariban Piqué · 220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 Farben · S bis 4XL</a:t>
            </a:r>
            <a:endParaRPr lang="en-US" sz="12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324612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17,50 €</a:t>
            </a:r>
            <a:endParaRPr lang="en-US" sz="1600" dirty="0"/>
          </a:p>
        </p:txBody>
      </p:sp>
      <p:pic>
        <p:nvPicPr>
          <p:cNvPr id="11" name="Image 2" descr="/var/folders/hm/sgq6d80d0vq133k7n8dc9bnw0000gn/T/maiershirts-R3q5bi/ph-foto-696x456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6035040" y="1234440"/>
            <a:ext cx="2651760" cy="1737360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035040" y="306324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Hoodie Bio</a:t>
            </a:r>
            <a:endParaRPr lang="en-US" sz="16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035040" y="3383280"/>
            <a:ext cx="2651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Stanley/Stella Cruiser · 350 g/m²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Farben · XS bis 3XL</a:t>
            </a:r>
            <a:endParaRPr lang="en-US" sz="1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035040" y="40690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29,90 €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Preisstaffel T-Shirt, Brustdruck 1-farbig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64008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 Stück</a:t>
            </a:r>
            <a:endParaRPr lang="en-US" sz="1400" dirty="0"/>
          </a:p>
        </p:txBody>
      </p:sp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64008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14,90 €</a:t>
            </a:r>
            <a:endParaRPr lang="en-US" sz="3200" dirty="0"/>
          </a:p>
        </p:txBody>
      </p:sp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64008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74320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25 Stück</a:t>
            </a:r>
            <a:endParaRPr lang="en-US" sz="14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274320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12,90 €</a:t>
            </a:r>
            <a:endParaRPr lang="en-US" sz="3200" dirty="0"/>
          </a:p>
        </p:txBody>
      </p:sp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274320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9" name="Text 0"/>
          <p:cNvSpPr txBox="1"/>
          <p:nvPr>
            <p:ph idx="108" type="body" hasCustomPrompt="1"/>
          </p:nvPr>
        </p:nvSpPr>
        <p:spPr>
          <a:xfrm>
            <a:off x="484632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50 Stück</a:t>
            </a:r>
            <a:endParaRPr lang="en-US" sz="1400" dirty="0"/>
          </a:p>
        </p:txBody>
      </p:sp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484632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11,50 €</a:t>
            </a:r>
            <a:endParaRPr lang="en-US" sz="3200" dirty="0"/>
          </a:p>
        </p:txBody>
      </p:sp>
      <p:sp>
        <p:nvSpPr>
          <p:cNvPr id="11" name="Text 0"/>
          <p:cNvSpPr txBox="1"/>
          <p:nvPr>
            <p:ph idx="110" type="body" hasCustomPrompt="1"/>
          </p:nvPr>
        </p:nvSpPr>
        <p:spPr>
          <a:xfrm>
            <a:off x="484632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6949440" y="1554480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ab 100 Stück</a:t>
            </a:r>
            <a:endParaRPr lang="en-US" sz="1400" dirty="0"/>
          </a:p>
        </p:txBody>
      </p:sp>
      <p:sp>
        <p:nvSpPr>
          <p:cNvPr id="13" name="Text 0"/>
          <p:cNvSpPr txBox="1"/>
          <p:nvPr>
            <p:ph idx="112" type="body" hasCustomPrompt="1"/>
          </p:nvPr>
        </p:nvSpPr>
        <p:spPr>
          <a:xfrm>
            <a:off x="6949440" y="1965960"/>
            <a:ext cx="1600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677E5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9,90 €</a:t>
            </a:r>
            <a:endParaRPr lang="en-US" sz="3200" dirty="0"/>
          </a:p>
        </p:txBody>
      </p:sp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6949440" y="2743200"/>
            <a:ext cx="1600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pro Stück, netto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inkl. Textil und Druck</a:t>
            </a:r>
            <a:endParaRPr lang="en-US" sz="1200" dirty="0"/>
          </a:p>
        </p:txBody>
      </p:sp>
      <p:sp>
        <p:nvSpPr>
          <p:cNvPr id="15" name="Text 0"/>
          <p:cNvSpPr txBox="1"/>
          <p:nvPr>
            <p:ph idx="114" type="body" hasCustomPrompt="1"/>
          </p:nvPr>
        </p:nvSpPr>
        <p:spPr>
          <a:xfrm>
            <a:off x="457200" y="36576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Beispielwerte. Staffelpreise gelten je Motiv und Textil; Einrichtungskosten für den Siebdruck fallen einmalig an. Verbindlich ist das Angebot aus Lexware.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Ihr Angebot im Überblick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206240"/>
                <a:gridCol w="914400"/>
                <a:gridCol w="1280160"/>
                <a:gridCol w="1280160"/>
              </a:tblGrid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Pos.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Artikel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Menge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Einzelpreis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0F0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T-Shirt Bio-Baumwolle, Brustdruck 1-farbig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12,90 €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645,00 €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Hoodie, Rückendruck 2-farbig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25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34,50 €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862,50 €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3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Polo-Shirt, Logo-Stickerei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20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26,00 €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520,00 €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Einrichtungskosten Siebdruck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1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45,00 €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0F0F0F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Netto gesamt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b="1" dirty="0">
                          <a:solidFill>
                            <a:srgbClr val="677E5B"/>
                          </a:solidFill>
                          <a:latin typeface="Inter" pitchFamily="34" charset="0"/>
                          <a:ea typeface="Inter" pitchFamily="34" charset="-122"/>
                          <a:cs typeface="Inter" pitchFamily="34" charset="-120"/>
                        </a:rPr>
                        <a:t>2.072,50 €</a:t>
                      </a:r>
                      <a:endParaRPr lang="en-US" sz="1200" dirty="0">
                        <a:latin typeface="Inter" charset="0"/>
                        <a:ea typeface="Inter" charset="0"/>
                        <a:cs typeface="Inter" charset="0"/>
                      </a:endParaRPr>
                    </a:p>
                  </a:txBody>
                  <a:tcPr marL="91440" marR="91440" marT="36576" marB="36576" anchor="ctr">
                    <a:lnL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2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DFD0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>
            <p:ph idx="103" type="body" hasCustomPrompt="1"/>
          </p:nvPr>
        </p:nvSpPr>
        <p:spPr>
          <a:xfrm>
            <a:off x="6400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15. Oktober 2026</a:t>
            </a:r>
            <a:endParaRPr lang="en-US" sz="1400" dirty="0"/>
          </a:p>
        </p:txBody>
      </p:sp>
      <p:sp>
        <p:nvSpPr>
          <p:cNvPr id="5" name="Text 2"/>
          <p:cNvSpPr txBox="1"/>
          <p:nvPr>
            <p:ph idx="105" type="body" hasCustomPrompt="1"/>
          </p:nvPr>
        </p:nvSpPr>
        <p:spPr>
          <a:xfrm>
            <a:off x="33832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Arbeitstage nach Freigabe</a:t>
            </a:r>
            <a:endParaRPr lang="en-US" sz="1400" dirty="0"/>
          </a:p>
        </p:txBody>
      </p:sp>
      <p:sp>
        <p:nvSpPr>
          <p:cNvPr id="6" name="Text 3"/>
          <p:cNvSpPr txBox="1"/>
          <p:nvPr>
            <p:ph idx="107" type="body" hasCustomPrompt="1"/>
          </p:nvPr>
        </p:nvSpPr>
        <p:spPr>
          <a:xfrm>
            <a:off x="6126480" y="3995928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Tage netto</a:t>
            </a:r>
            <a:endParaRPr lang="en-US" sz="1400" dirty="0"/>
          </a:p>
        </p:txBody>
      </p:sp>
      <p:sp>
        <p:nvSpPr>
          <p:cNvPr id="7" name="Text 3"/>
          <p:cNvSpPr txBox="1"/>
          <p:nvPr>
            <p:ph idx="108" type="body" hasCustomPrompt="1"/>
          </p:nvPr>
        </p:nvSpPr>
        <p:spPr>
          <a:xfrm>
            <a:off x="457200" y="4462272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Beispielpositionen · Preise netto zzgl. MwSt. · Verbindlich ist das Angebot Nr. 2026-0815 aus Lexware.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Unternehmen,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R3q5bi/ref-unternehmen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713232" y="1519438"/>
            <a:ext cx="1408176" cy="390124"/>
          </a:xfrm>
          <a:prstGeom prst="rect">
            <a:avLst/>
          </a:prstGeom>
        </p:spPr>
      </p:pic>
      <p:pic>
        <p:nvPicPr>
          <p:cNvPr id="4" name="Image 1" descr="/var/folders/hm/sgq6d80d0vq133k7n8dc9bnw0000gn/T/maiershirts-R3q5bi/ref-unternehmen-1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16352" y="1607820"/>
            <a:ext cx="1408176" cy="213360"/>
          </a:xfrm>
          <a:prstGeom prst="rect">
            <a:avLst/>
          </a:prstGeom>
        </p:spPr>
      </p:pic>
      <p:pic>
        <p:nvPicPr>
          <p:cNvPr id="5" name="Image 2" descr="/var/folders/hm/sgq6d80d0vq133k7n8dc9bnw0000gn/T/maiershirts-R3q5bi/ref-unternehmen-2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4919472" y="1562265"/>
            <a:ext cx="1408176" cy="304470"/>
          </a:xfrm>
          <a:prstGeom prst="rect">
            <a:avLst/>
          </a:prstGeom>
        </p:spPr>
      </p:pic>
      <p:pic>
        <p:nvPicPr>
          <p:cNvPr id="6" name="Image 3" descr="/var/folders/hm/sgq6d80d0vq133k7n8dc9bnw0000gn/T/maiershirts-R3q5bi/ref-unternehmen-3.png">    </p:cNvPr>
          <p:cNvPicPr>
            <a:picLocks noChangeAspect="1"/>
          </p:cNvPicPr>
          <p:nvPr>
            <p:ph idx="105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174078" y="1490472"/>
            <a:ext cx="1105205" cy="448056"/>
          </a:xfrm>
          <a:prstGeom prst="rect">
            <a:avLst/>
          </a:prstGeom>
        </p:spPr>
      </p:pic>
      <p:pic>
        <p:nvPicPr>
          <p:cNvPr id="7" name="Image 4" descr="/var/folders/hm/sgq6d80d0vq133k7n8dc9bnw0000gn/T/maiershirts-R3q5bi/ref-unternehmen-4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90420" y="2587752"/>
            <a:ext cx="653799" cy="448056"/>
          </a:xfrm>
          <a:prstGeom prst="rect">
            <a:avLst/>
          </a:prstGeom>
        </p:spPr>
      </p:pic>
      <p:pic>
        <p:nvPicPr>
          <p:cNvPr id="8" name="Image 5" descr="/var/folders/hm/sgq6d80d0vq133k7n8dc9bnw0000gn/T/maiershirts-R3q5bi/ref-unternehmen-5.png">    </p:cNvPr>
          <p:cNvPicPr>
            <a:picLocks noChangeAspect="1"/>
          </p:cNvPicPr>
          <p:nvPr>
            <p:ph idx="107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2860802" y="2587752"/>
            <a:ext cx="1319276" cy="448056"/>
          </a:xfrm>
          <a:prstGeom prst="rect">
            <a:avLst/>
          </a:prstGeom>
        </p:spPr>
      </p:pic>
      <p:pic>
        <p:nvPicPr>
          <p:cNvPr id="9" name="Image 6" descr="/var/folders/hm/sgq6d80d0vq133k7n8dc9bnw0000gn/T/maiershirts-R3q5bi/ref-unternehmen-6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357181" y="2587752"/>
            <a:ext cx="532758" cy="448056"/>
          </a:xfrm>
          <a:prstGeom prst="rect">
            <a:avLst/>
          </a:prstGeom>
        </p:spPr>
      </p:pic>
      <p:pic>
        <p:nvPicPr>
          <p:cNvPr id="10" name="Image 7" descr="/var/folders/hm/sgq6d80d0vq133k7n8dc9bnw0000gn/T/maiershirts-R3q5bi/ref-unternehmen-7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7224177" y="2587752"/>
            <a:ext cx="1005007" cy="448056"/>
          </a:xfrm>
          <a:prstGeom prst="rect">
            <a:avLst/>
          </a:prstGeom>
        </p:spPr>
      </p:pic>
      <p:pic>
        <p:nvPicPr>
          <p:cNvPr id="11" name="Image 8" descr="/var/folders/hm/sgq6d80d0vq133k7n8dc9bnw0000gn/T/maiershirts-R3q5bi/ref-unternehmen-8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9"/>
          <a:stretch>
            <a:fillRect/>
          </a:stretch>
        </p:blipFill>
        <p:spPr>
          <a:xfrm>
            <a:off x="972998" y="3685032"/>
            <a:ext cx="888644" cy="448056"/>
          </a:xfrm>
          <a:prstGeom prst="rect">
            <a:avLst/>
          </a:prstGeom>
        </p:spPr>
      </p:pic>
      <p:pic>
        <p:nvPicPr>
          <p:cNvPr id="12" name="Image 9" descr="/var/folders/hm/sgq6d80d0vq133k7n8dc9bnw0000gn/T/maiershirts-R3q5bi/ref-unternehmen-9.png">    </p:cNvPr>
          <p:cNvPicPr>
            <a:picLocks noChangeAspect="1"/>
          </p:cNvPicPr>
          <p:nvPr>
            <p:ph idx="111" type="pic" hasCustomPrompt="1"/>
          </p:nvPr>
        </p:nvPicPr>
        <p:blipFill>
          <a:blip r:embed="rId10"/>
          <a:stretch>
            <a:fillRect/>
          </a:stretch>
        </p:blipFill>
        <p:spPr>
          <a:xfrm>
            <a:off x="3186157" y="3685032"/>
            <a:ext cx="668565" cy="448056"/>
          </a:xfrm>
          <a:prstGeom prst="rect">
            <a:avLst/>
          </a:prstGeom>
        </p:spPr>
      </p:pic>
      <p:pic>
        <p:nvPicPr>
          <p:cNvPr id="13" name="Image 10" descr="/var/folders/hm/sgq6d80d0vq133k7n8dc9bnw0000gn/T/maiershirts-R3q5bi/ph-logo-446x194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11"/>
          <a:stretch>
            <a:fillRect/>
          </a:stretch>
        </p:blipFill>
        <p:spPr>
          <a:xfrm>
            <a:off x="4773168" y="3538728"/>
            <a:ext cx="1700784" cy="740664"/>
          </a:xfrm>
          <a:prstGeom prst="rect">
            <a:avLst/>
          </a:prstGeom>
        </p:spPr>
      </p:pic>
      <p:pic>
        <p:nvPicPr>
          <p:cNvPr id="14" name="Image 11" descr="/var/folders/hm/sgq6d80d0vq133k7n8dc9bnw0000gn/T/maiershirts-R3q5bi/ph-logo-446x194.png">    </p:cNvPr>
          <p:cNvPicPr>
            <a:picLocks noChangeAspect="1"/>
          </p:cNvPicPr>
          <p:nvPr>
            <p:ph idx="113" type="pic" hasCustomPrompt="1"/>
          </p:nvPr>
        </p:nvPicPr>
        <p:blipFill>
          <a:blip r:embed="rId12"/>
          <a:stretch>
            <a:fillRect/>
          </a:stretch>
        </p:blipFill>
        <p:spPr>
          <a:xfrm>
            <a:off x="6876288" y="3538728"/>
            <a:ext cx="1700784" cy="74066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Vereine, die uns vertrauen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R3q5bi/ref-vereine-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843422" y="1490472"/>
            <a:ext cx="1147795" cy="667512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56692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DAV Sektion Tübingen</a:t>
            </a:r>
            <a:endParaRPr lang="en-US" sz="1100" dirty="0"/>
          </a:p>
        </p:txBody>
      </p:sp>
      <p:pic>
        <p:nvPicPr>
          <p:cNvPr id="5" name="Image 1" descr="/var/folders/hm/sgq6d80d0vq133k7n8dc9bnw0000gn/T/maiershirts-R3q5bi/ref-vereine-1.png">    </p:cNvPr>
          <p:cNvPicPr>
            <a:picLocks noChangeAspect="1"/>
          </p:cNvPicPr>
          <p:nvPr>
            <p:ph idx="104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2858236" y="1490472"/>
            <a:ext cx="1324409" cy="667512"/>
          </a:xfrm>
          <a:prstGeom prst="rect">
            <a:avLst/>
          </a:prstGeom>
        </p:spPr>
      </p:pic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267004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Tennisclub Ammerbuch</a:t>
            </a:r>
            <a:endParaRPr lang="en-US" sz="1100" dirty="0"/>
          </a:p>
        </p:txBody>
      </p:sp>
      <p:pic>
        <p:nvPicPr>
          <p:cNvPr id="7" name="Image 2" descr="/var/folders/hm/sgq6d80d0vq133k7n8dc9bnw0000gn/T/maiershirts-R3q5bi/ref-vereine-2.png">    </p:cNvPr>
          <p:cNvPicPr>
            <a:picLocks noChangeAspect="1"/>
          </p:cNvPicPr>
          <p:nvPr>
            <p:ph idx="106" type="pic" hasCustomPrompt="1"/>
          </p:nvPr>
        </p:nvPicPr>
        <p:blipFill>
          <a:blip r:embed="rId3"/>
          <a:stretch>
            <a:fillRect/>
          </a:stretch>
        </p:blipFill>
        <p:spPr>
          <a:xfrm>
            <a:off x="5369071" y="1490472"/>
            <a:ext cx="508978" cy="667512"/>
          </a:xfrm>
          <a:prstGeom prst="rect">
            <a:avLst/>
          </a:prstGeom>
        </p:spPr>
      </p:pic>
      <p:sp>
        <p:nvSpPr>
          <p:cNvPr id="8" name="Text 0"/>
          <p:cNvSpPr txBox="1"/>
          <p:nvPr>
            <p:ph idx="107" type="body" hasCustomPrompt="1"/>
          </p:nvPr>
        </p:nvSpPr>
        <p:spPr>
          <a:xfrm>
            <a:off x="477316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TGV Entringen</a:t>
            </a:r>
            <a:endParaRPr lang="en-US" sz="1100" dirty="0"/>
          </a:p>
        </p:txBody>
      </p:sp>
      <p:pic>
        <p:nvPicPr>
          <p:cNvPr id="9" name="Image 3" descr="/var/folders/hm/sgq6d80d0vq133k7n8dc9bnw0000gn/T/maiershirts-R3q5bi/ref-vereine-3.png">    </p:cNvPr>
          <p:cNvPicPr>
            <a:picLocks noChangeAspect="1"/>
          </p:cNvPicPr>
          <p:nvPr>
            <p:ph idx="108" type="pic" hasCustomPrompt="1"/>
          </p:nvPr>
        </p:nvPicPr>
        <p:blipFill>
          <a:blip r:embed="rId4"/>
          <a:stretch>
            <a:fillRect/>
          </a:stretch>
        </p:blipFill>
        <p:spPr>
          <a:xfrm>
            <a:off x="7392924" y="1490472"/>
            <a:ext cx="667512" cy="667512"/>
          </a:xfrm>
          <a:prstGeom prst="rect">
            <a:avLst/>
          </a:prstGeom>
        </p:spPr>
      </p:pic>
      <p:sp>
        <p:nvSpPr>
          <p:cNvPr id="10" name="Text 0"/>
          <p:cNvSpPr txBox="1"/>
          <p:nvPr>
            <p:ph idx="109" type="body" hasCustomPrompt="1"/>
          </p:nvPr>
        </p:nvSpPr>
        <p:spPr>
          <a:xfrm>
            <a:off x="6876288" y="24140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Hooriger Hund Sulzbach</a:t>
            </a:r>
            <a:endParaRPr lang="en-US" sz="1100" dirty="0"/>
          </a:p>
        </p:txBody>
      </p:sp>
      <p:pic>
        <p:nvPicPr>
          <p:cNvPr id="11" name="Image 4" descr="/var/folders/hm/sgq6d80d0vq133k7n8dc9bnw0000gn/T/maiershirts-R3q5bi/ref-vereine-4.png">    </p:cNvPr>
          <p:cNvPicPr>
            <a:picLocks noChangeAspect="1"/>
          </p:cNvPicPr>
          <p:nvPr>
            <p:ph idx="110" type="pic" hasCustomPrompt="1"/>
          </p:nvPr>
        </p:nvPicPr>
        <p:blipFill>
          <a:blip r:embed="rId5"/>
          <a:stretch>
            <a:fillRect/>
          </a:stretch>
        </p:blipFill>
        <p:spPr>
          <a:xfrm>
            <a:off x="1073295" y="3090672"/>
            <a:ext cx="688051" cy="667512"/>
          </a:xfrm>
          <a:prstGeom prst="rect">
            <a:avLst/>
          </a:prstGeom>
        </p:spPr>
      </p:pic>
      <p:sp>
        <p:nvSpPr>
          <p:cNvPr id="12" name="Text 0"/>
          <p:cNvSpPr txBox="1"/>
          <p:nvPr>
            <p:ph idx="111" type="body" hasCustomPrompt="1"/>
          </p:nvPr>
        </p:nvSpPr>
        <p:spPr>
          <a:xfrm>
            <a:off x="56692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Sportfreunde Dußlingen</a:t>
            </a:r>
            <a:endParaRPr lang="en-US" sz="1100" dirty="0"/>
          </a:p>
        </p:txBody>
      </p:sp>
      <p:pic>
        <p:nvPicPr>
          <p:cNvPr id="13" name="Image 5" descr="/var/folders/hm/sgq6d80d0vq133k7n8dc9bnw0000gn/T/maiershirts-R3q5bi/ref-vereine-5.png">    </p:cNvPr>
          <p:cNvPicPr>
            <a:picLocks noChangeAspect="1"/>
          </p:cNvPicPr>
          <p:nvPr>
            <p:ph idx="112" type="pic" hasCustomPrompt="1"/>
          </p:nvPr>
        </p:nvPicPr>
        <p:blipFill>
          <a:blip r:embed="rId6"/>
          <a:stretch>
            <a:fillRect/>
          </a:stretch>
        </p:blipFill>
        <p:spPr>
          <a:xfrm>
            <a:off x="3186684" y="3090672"/>
            <a:ext cx="667512" cy="667512"/>
          </a:xfrm>
          <a:prstGeom prst="rect">
            <a:avLst/>
          </a:prstGeom>
        </p:spPr>
      </p:pic>
      <p:sp>
        <p:nvSpPr>
          <p:cNvPr id="14" name="Text 0"/>
          <p:cNvSpPr txBox="1"/>
          <p:nvPr>
            <p:ph idx="113" type="body" hasCustomPrompt="1"/>
          </p:nvPr>
        </p:nvSpPr>
        <p:spPr>
          <a:xfrm>
            <a:off x="267004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SV Germania Bietigheim</a:t>
            </a:r>
            <a:endParaRPr lang="en-US" sz="1100" dirty="0"/>
          </a:p>
        </p:txBody>
      </p:sp>
      <p:pic>
        <p:nvPicPr>
          <p:cNvPr id="15" name="Image 6" descr="/var/folders/hm/sgq6d80d0vq133k7n8dc9bnw0000gn/T/maiershirts-R3q5bi/ref-vereine-6.png">    </p:cNvPr>
          <p:cNvPicPr>
            <a:picLocks noChangeAspect="1"/>
          </p:cNvPicPr>
          <p:nvPr>
            <p:ph idx="114" type="pic" hasCustomPrompt="1"/>
          </p:nvPr>
        </p:nvPicPr>
        <p:blipFill>
          <a:blip r:embed="rId7"/>
          <a:stretch>
            <a:fillRect/>
          </a:stretch>
        </p:blipFill>
        <p:spPr>
          <a:xfrm>
            <a:off x="5288359" y="3090672"/>
            <a:ext cx="670402" cy="667512"/>
          </a:xfrm>
          <a:prstGeom prst="rect">
            <a:avLst/>
          </a:prstGeom>
        </p:spPr>
      </p:pic>
      <p:sp>
        <p:nvSpPr>
          <p:cNvPr id="16" name="Text 0"/>
          <p:cNvSpPr txBox="1"/>
          <p:nvPr>
            <p:ph idx="115" type="body" hasCustomPrompt="1"/>
          </p:nvPr>
        </p:nvSpPr>
        <p:spPr>
          <a:xfrm>
            <a:off x="477316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TV Mühlacker</a:t>
            </a:r>
            <a:endParaRPr lang="en-US" sz="1100" dirty="0"/>
          </a:p>
        </p:txBody>
      </p:sp>
      <p:pic>
        <p:nvPicPr>
          <p:cNvPr id="17" name="Image 7" descr="/var/folders/hm/sgq6d80d0vq133k7n8dc9bnw0000gn/T/maiershirts-R3q5bi/ph-logo-446x252.png">    </p:cNvPr>
          <p:cNvPicPr>
            <a:picLocks noChangeAspect="1"/>
          </p:cNvPicPr>
          <p:nvPr>
            <p:ph idx="116" type="pic" hasCustomPrompt="1"/>
          </p:nvPr>
        </p:nvPicPr>
        <p:blipFill>
          <a:blip r:embed="rId8"/>
          <a:stretch>
            <a:fillRect/>
          </a:stretch>
        </p:blipFill>
        <p:spPr>
          <a:xfrm>
            <a:off x="6876288" y="2944368"/>
            <a:ext cx="1700784" cy="960120"/>
          </a:xfrm>
          <a:prstGeom prst="rect">
            <a:avLst/>
          </a:prstGeom>
        </p:spPr>
      </p:pic>
      <p:sp>
        <p:nvSpPr>
          <p:cNvPr id="19" name="Text 0"/>
          <p:cNvSpPr/>
          <p:nvPr>
            <p:ph idx="117" type="body" hasCustomPrompt="1"/>
          </p:nvPr>
        </p:nvSpPr>
        <p:spPr>
          <a:xfrm>
            <a:off x="6876288" y="4014216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Stickerei im Detail</a:t>
            </a:r>
            <a:endParaRPr lang="en-US" sz="2800" dirty="0"/>
          </a:p>
        </p:txBody>
      </p:sp>
      <p:pic>
        <p:nvPicPr>
          <p:cNvPr id="3" name="Image 0" descr="/var/folders/hm/sgq6d80d0vq133k7n8dc9bnw0000gn/T/maiershirts-R3q5bi/ph-foto-1056x840.png">    </p:cNvPr>
          <p:cNvPicPr>
            <a:picLocks noChangeAspect="1"/>
          </p:cNvPicPr>
          <p:nvPr>
            <p:ph idx="102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457200" y="1234440"/>
            <a:ext cx="4023360" cy="3200400"/>
          </a:xfrm>
          <a:prstGeom prst="rect">
            <a:avLst/>
          </a:prstGeom>
        </p:spPr>
      </p:pic>
      <p:sp>
        <p:nvSpPr>
          <p:cNvPr id="4" name="Text 0"/>
          <p:cNvSpPr txBox="1"/>
          <p:nvPr>
            <p:ph idx="103" type="body" hasCustomPrompt="1"/>
          </p:nvPr>
        </p:nvSpPr>
        <p:spPr>
          <a:xfrm>
            <a:off x="4846320" y="1234440"/>
            <a:ext cx="384048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Bis zu 12 Garnfarben pro Motiv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Waschbeständig bis 60 °C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Ideal für Polos, Jacken und Caps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Motivdigitalisierung im Haus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Auftragsvolumen nach Produktgruppe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188720"/>
          <a:ext cx="5303520" cy="32918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035040" y="1188720"/>
            <a:ext cx="2651760" cy="3291840"/>
          </a:xfrm>
          <a:prstGeom prst="roundRect">
            <a:avLst>
              <a:gd name="adj" fmla="val 4138"/>
            </a:avLst>
          </a:prstGeom>
          <a:solidFill>
            <a:srgbClr val="E8DFD0"/>
          </a:solidFill>
          <a:ln w="12700">
            <a:solidFill>
              <a:srgbClr val="E8DFD0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263640" y="137160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Beispieldaten</a:t>
            </a:r>
            <a:endParaRPr lang="en-US" sz="1200" dirty="0"/>
          </a:p>
        </p:txBody>
      </p:sp>
      <p:sp>
        <p:nvSpPr>
          <p:cNvPr id="6" name="Text 3"/>
          <p:cNvSpPr txBox="1"/>
          <p:nvPr/>
        </p:nvSpPr>
        <p:spPr>
          <a:xfrm>
            <a:off x="6263640" y="1691640"/>
            <a:ext cx="2194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T-Shirts machen den größten Anteil aus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6263640" y="24231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Natives Diagramm: Werte per Rechtsklick → „Daten bearbeiten“ ändern.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457200" y="32004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Folientitel</a:t>
            </a:r>
            <a:endParaRPr lang="en-US" sz="28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457200" y="1234440"/>
            <a:ext cx="82296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Erste Aussage der Folie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Zweite Aussage mit einer kurzen Erläuterung</a:t>
            </a:r>
            <a:endParaRPr lang="en-US" sz="1600" dirty="0"/>
          </a:p>
          <a:p>
            <a:pPr algn="l"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Dritte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Unterpunkt zur dritten Aussage</a:t>
            </a:r>
            <a:endParaRPr lang="en-US" sz="1600" dirty="0"/>
          </a:p>
          <a:p>
            <a:pPr algn="l"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Weiterer Unterpunkt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229600" y="470916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/>
          <a:lstStyle>
            <a:lvl1pPr>
              <a:defRPr sz="1000">
                <a:solidFill>
                  <a:srgbClr val="0F0F0F"/>
                </a:solidFill>
                <a:latin typeface="Inter"/>
                <a:ea typeface="Inter"/>
                <a:cs typeface="Inter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>
            <p:ph idx="101" type="title" hasCustomPrompt="1"/>
          </p:nvPr>
        </p:nvSpPr>
        <p:spPr>
          <a:xfrm>
            <a:off x="548640" y="1371600"/>
            <a:ext cx="48463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Lassen Sie uns Ihr Projekt starten</a:t>
            </a:r>
            <a:endParaRPr lang="en-US" sz="3200" dirty="0"/>
          </a:p>
        </p:txBody>
      </p:sp>
      <p:sp>
        <p:nvSpPr>
          <p:cNvPr id="3" name="Text 0"/>
          <p:cNvSpPr txBox="1"/>
          <p:nvPr>
            <p:ph idx="102" type="body" hasCustomPrompt="1"/>
          </p:nvPr>
        </p:nvSpPr>
        <p:spPr>
          <a:xfrm>
            <a:off x="548640" y="2423160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Wir freuen uns auf Ihre Freigabe und begleiten Sie bis zur Lieferung.</a:t>
            </a:r>
            <a:endParaRPr lang="en-US" sz="1600" dirty="0"/>
          </a:p>
        </p:txBody>
      </p:sp>
      <p:pic>
        <p:nvPicPr>
          <p:cNvPr id="4" name="Image 0" descr="/var/folders/hm/sgq6d80d0vq133k7n8dc9bnw0000gn/T/maiershirts-R3q5bi/ph-portrait-252x252.png">    </p:cNvPr>
          <p:cNvPicPr>
            <a:picLocks noChangeAspect="1"/>
          </p:cNvPicPr>
          <p:nvPr>
            <p:ph idx="103" type="pic" hasCustomPrompt="1"/>
          </p:nvPr>
        </p:nvPicPr>
        <p:blipFill>
          <a:blip r:embed="rId1"/>
          <a:stretch>
            <a:fillRect/>
          </a:stretch>
        </p:blipFill>
        <p:spPr>
          <a:xfrm>
            <a:off x="548640" y="3154680"/>
            <a:ext cx="960120" cy="960120"/>
          </a:xfrm>
          <a:prstGeom prst="rect">
            <a:avLst/>
          </a:prstGeom>
        </p:spPr>
      </p:pic>
      <p:sp>
        <p:nvSpPr>
          <p:cNvPr id="5" name="Text 0"/>
          <p:cNvSpPr txBox="1"/>
          <p:nvPr>
            <p:ph idx="104" type="body" hasCustomPrompt="1"/>
          </p:nvPr>
        </p:nvSpPr>
        <p:spPr>
          <a:xfrm>
            <a:off x="169164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Stefan Maier</a:t>
            </a:r>
            <a:endParaRPr lang="en-US" sz="1600" dirty="0"/>
          </a:p>
        </p:txBody>
      </p:sp>
      <p:sp>
        <p:nvSpPr>
          <p:cNvPr id="6" name="Text 0"/>
          <p:cNvSpPr txBox="1"/>
          <p:nvPr>
            <p:ph idx="105" type="body" hasCustomPrompt="1"/>
          </p:nvPr>
        </p:nvSpPr>
        <p:spPr>
          <a:xfrm>
            <a:off x="1691640" y="34747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>
                    <a:alpha val="65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Inhaber · Ihr Ansprechpartner</a:t>
            </a:r>
            <a:endParaRPr lang="en-US" sz="1200" dirty="0"/>
          </a:p>
        </p:txBody>
      </p:sp>
      <p:sp>
        <p:nvSpPr>
          <p:cNvPr id="7" name="Text 0"/>
          <p:cNvSpPr txBox="1"/>
          <p:nvPr>
            <p:ph idx="106" type="body" hasCustomPrompt="1"/>
          </p:nvPr>
        </p:nvSpPr>
        <p:spPr>
          <a:xfrm>
            <a:off x="1691640" y="3749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+49 (0) 000 000000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info@maiershirts.de</a:t>
            </a:r>
            <a:endParaRPr lang="en-US" sz="1200" dirty="0"/>
          </a:p>
        </p:txBody>
      </p:sp>
      <p:sp>
        <p:nvSpPr>
          <p:cNvPr id="8" name="Text 1"/>
          <p:cNvSpPr txBox="1"/>
          <p:nvPr>
            <p:ph idx="108" type="body" hasCustomPrompt="1"/>
          </p:nvPr>
        </p:nvSpPr>
        <p:spPr>
          <a:xfrm>
            <a:off x="5897880" y="1828800"/>
            <a:ext cx="25603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0F0F0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Freigabe des Angebots bis 15. Oktober 2026. Danach Musterfreigabe, Produktion und Lieferung zum Saisonstart.</a:t>
            </a:r>
            <a:endParaRPr lang="en-US" sz="1400" dirty="0"/>
          </a:p>
        </p:txBody>
      </p:sp>
      <p:pic>
        <p:nvPicPr>
          <p:cNvPr id="9" name="Image 1" descr="/var/folders/hm/sgq6d80d0vq133k7n8dc9bnw0000gn/T/maiershirts-R3q5bi/ph-qr-240x240.png">    </p:cNvPr>
          <p:cNvPicPr>
            <a:picLocks noChangeAspect="1"/>
          </p:cNvPicPr>
          <p:nvPr>
            <p:ph idx="109" type="pic" hasCustomPrompt="1"/>
          </p:nvPr>
        </p:nvPicPr>
        <p:blipFill>
          <a:blip r:embed="rId2"/>
          <a:stretch>
            <a:fillRect/>
          </a:stretch>
        </p:blipFill>
        <p:spPr>
          <a:xfrm>
            <a:off x="5897880" y="3200400"/>
            <a:ext cx="914400" cy="914400"/>
          </a:xfrm>
          <a:prstGeom prst="rect">
            <a:avLst/>
          </a:prstGeom>
        </p:spPr>
      </p:pic>
      <p:sp>
        <p:nvSpPr>
          <p:cNvPr id="10" name="Text 1"/>
          <p:cNvSpPr txBox="1"/>
          <p:nvPr>
            <p:ph idx="110" type="body" hasCustomPrompt="1"/>
          </p:nvPr>
        </p:nvSpPr>
        <p:spPr>
          <a:xfrm>
            <a:off x="6949440" y="3200400"/>
            <a:ext cx="1600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Anfrage online: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0F0F0F">
                    <a:alpha val="60000"/>
                  </a:srgbClr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maiershirts.de/anfrage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Maiershirts">
      <a:dk1>
        <a:srgbClr val="0F0F0F"/>
      </a:dk1>
      <a:lt1>
        <a:srgbClr val="FFFFFF"/>
      </a:lt1>
      <a:dk2>
        <a:srgbClr val="677E5B"/>
      </a:dk2>
      <a:lt2>
        <a:srgbClr val="E8DFD0"/>
      </a:lt2>
      <a:accent1>
        <a:srgbClr val="819E72"/>
      </a:accent1>
      <a:accent2>
        <a:srgbClr val="A3C095"/>
      </a:accent2>
      <a:accent3>
        <a:srgbClr val="677E5B"/>
      </a:accent3>
      <a:accent4>
        <a:srgbClr val="D9D2C5"/>
      </a:accent4>
      <a:accent5>
        <a:srgbClr val="FAF7F2"/>
      </a:accent5>
      <a:accent6>
        <a:srgbClr val="0F0F0F"/>
      </a:accent6>
      <a:hlink>
        <a:srgbClr val="677E5B"/>
      </a:hlink>
      <a:folHlink>
        <a:srgbClr val="819E72"/>
      </a:folHlink>
    </a:clrScheme>
    <a:fontScheme name="Maiershirts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Maiershirts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Maiershirts – Präsentationsmaster</dc:title>
  <dc:subject>PptxGenJS Presentation</dc:subject>
  <dc:creator>Maiershirts</dc:creator>
  <cp:lastModifiedBy>Maiershirts</cp:lastModifiedBy>
  <cp:revision>1</cp:revision>
  <dcterms:created xsi:type="dcterms:W3CDTF">2026-09-15T14:21:28Z</dcterms:created>
  <dcterms:modified xsi:type="dcterms:W3CDTF">2026-09-15T14:21:28Z</dcterms:modified>
</cp:coreProperties>
</file>